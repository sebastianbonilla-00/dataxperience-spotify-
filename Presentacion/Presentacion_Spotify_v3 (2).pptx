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1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37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kaggle.com/datasets/sarahjeffreson/featured-spotify-artiststracks-with-metadata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DATAXPERIENCE  ·  UNIVERSIDAD EAN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228600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de la Presencia de Artistas en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Playlists Editoriales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Spotify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44348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O" dirty="0"/>
              <a:t> </a:t>
            </a:r>
            <a:r>
              <a:rPr lang="es-CO" sz="1500" i="1" dirty="0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Sebastian Bonilla Urrego, Juan Andrés López Forero,</a:t>
            </a:r>
          </a:p>
          <a:p>
            <a:r>
              <a:rPr lang="es-CO" sz="1500" i="1" dirty="0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Sael </a:t>
            </a:r>
            <a:r>
              <a:rPr lang="es-CO" sz="1500" i="1" dirty="0" err="1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Andres</a:t>
            </a:r>
            <a:r>
              <a:rPr lang="es-CO" sz="1500" i="1" dirty="0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Velasquez Torres, Helen Julieth Suarez </a:t>
            </a:r>
            <a:r>
              <a:rPr lang="es-CO" sz="1500" i="1" dirty="0" err="1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Rodriguez</a:t>
            </a:r>
            <a:endParaRPr lang="es-CO" sz="1500" i="1" dirty="0">
              <a:solidFill>
                <a:srgbClr val="A7A7A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 </a:t>
            </a:r>
            <a:r>
              <a:rPr lang="en-US" sz="1100" dirty="0" err="1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</a:t>
            </a:r>
            <a:r>
              <a:rPr lang="en-US" sz="1100" dirty="0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IDEA DEL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Estimar en cuántas playlists puede aparecer</a:t>
            </a:r>
            <a:endParaRPr lang="en-US" sz="27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artista, antes de invertir en su promoción.</a:t>
            </a:r>
            <a:endParaRPr lang="en-US" sz="2700" dirty="0"/>
          </a:p>
        </p:txBody>
      </p:sp>
      <p:pic>
        <p:nvPicPr>
          <p:cNvPr id="4" name="Image 0" descr="C:\claude_deck\deck\icons\mic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4884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167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2606040"/>
            <a:ext cx="52578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</a:t>
            </a:r>
            <a:r>
              <a:rPr lang="en-US" sz="1350" dirty="0" err="1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r>
              <a:rPr lang="en-US" sz="1350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que, a partir del perfil del artista (seguidores, oyentes mensuales, lanzamientos, antigüedad, género) y los audio features de sus tracks, estima en cuántas playlists editoriales distintas </a:t>
            </a:r>
            <a:r>
              <a:rPr lang="en-US" sz="1350" dirty="0" err="1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aparecerá</a:t>
            </a:r>
            <a:r>
              <a:rPr lang="en-US" sz="1350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apoyar decisiones de inversión en promoción musical.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172200" y="2148840"/>
            <a:ext cx="5513832" cy="3703320"/>
          </a:xfrm>
          <a:prstGeom prst="roundRect">
            <a:avLst>
              <a:gd name="adj" fmla="val 2963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6492240" y="2377440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PRINCIPAL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92240" y="2788920"/>
            <a:ext cx="487375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i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tan precisamente puede un modelo de regresión, entrenado con las características de artistas destacados en playlists editoriales de Spotify en Estados Unidos (seguidores, oyentes mensuales, género, antigüedad) y los audio features de sus tracks, medidos entre el 1 de abril y el 9 de mayo de 2024, estimar en cuántas playlists editoriales distintas aparecerá un artista que el modelo no vio durante el entrenamiento?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2240" y="5504688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pregunta: predictiva / de modelado (regresión)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IDEAS DE APOYO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stack simple y reutilizable, documentado desde la Clase 6.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95528" y="1984248"/>
            <a:ext cx="658368" cy="658368"/>
          </a:xfrm>
          <a:prstGeom prst="ellipse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C:\claude_deck\deck\icons\python_green.png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0120" y="21488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842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40487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 · matplotlib · seaborn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6464808" y="1984248"/>
            <a:ext cx="658368" cy="658368"/>
          </a:xfrm>
          <a:prstGeom prst="ellipse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C:\claude_deck\deck\icons\code_green.png"/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56248" y="21671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9842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 propias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15200" y="240487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cargar_datos() · auditoria_calidad() · detectar_atipicos_iqr() · normalizar_minmax()/zscore()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41148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795528" y="4407408"/>
            <a:ext cx="658368" cy="658368"/>
          </a:xfrm>
          <a:prstGeom prst="ellipse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C:\claude_deck\deck\icons\book_green.png"/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0120" y="457200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074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 de referencia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45920" y="482803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de clase de la profesora (Clase 6 — Caja de Herramientas)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41148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6464808" y="4407408"/>
            <a:ext cx="658368" cy="658368"/>
          </a:xfrm>
          <a:prstGeom prst="ellipse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C:\claude_deck\deck\icons\tasks_green.png"/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29400" y="457200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4074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del equipo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15200" y="482803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como tracker de tareas del equipo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LOS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Fuente: Kaggle — Featured Spotify artists/tracks with metadata (sarahjeffreson).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muchos-a-muchos entre las dos tablas (feat_track_ids ↔ artists).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C:\claude_deck\deck\icons\mic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2494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7568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Artists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2834640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21,270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· 13 columnas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402336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</a:t>
            </a:r>
            <a:r>
              <a:rPr lang="en-US" sz="11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artista en una fecha de snapshot (mismo id hasta 35 veces)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2960" y="4645152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Ventana: </a:t>
            </a:r>
            <a:r>
              <a:rPr lang="en-US" sz="11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abr–9 may 2024 · mercado EE. UU.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" y="5266944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clave: </a:t>
            </a:r>
            <a:r>
              <a:rPr lang="en-US" sz="11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followers, monthly_listeners, playlists_found (objetivo)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72200" y="17830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6492240" y="2103120"/>
            <a:ext cx="566928" cy="566928"/>
          </a:xfrm>
          <a:prstGeom prst="ellipse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1" descr="C:\claude_deck\deck\icons\music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224942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78040" y="207568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Tracks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6492240" y="2834640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15,811</a:t>
            </a:r>
            <a:endParaRPr lang="en-US" sz="4200" dirty="0"/>
          </a:p>
        </p:txBody>
      </p:sp>
      <p:sp>
        <p:nvSpPr>
          <p:cNvPr id="19" name="Text 15"/>
          <p:cNvSpPr/>
          <p:nvPr/>
        </p:nvSpPr>
        <p:spPr>
          <a:xfrm>
            <a:off x="6492240" y="35204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· 23 columnas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492240" y="402336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</a:t>
            </a:r>
            <a:r>
              <a:rPr lang="en-US" sz="11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track = una fila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492240" y="4645152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features: </a:t>
            </a:r>
            <a:r>
              <a:rPr lang="en-US" sz="11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tempo, energy, danceability, valence, entre otros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LIMPIEZA DE LOS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 muestra todo el </a:t>
            </a:r>
            <a:r>
              <a:rPr lang="en-US" sz="2200" b="1" dirty="0" err="1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</a:t>
            </a:r>
            <a:r>
              <a:rPr lang="en-US" sz="22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solo los cambios más ilustrativos.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12121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85800" y="1490472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1,140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eliminadas · Artists (5.4%)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51960" y="141732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12121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434840" y="1490472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34840" y="2194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eliminadas · Tracks (9.3%)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01000" y="141732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12121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183880" y="1490472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183880" y="2194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de calidad final /100 (ambas)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88036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4" name="Image 0" descr="C:\claude_deck\deck\icons\broom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54680"/>
            <a:ext cx="347472" cy="34747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77240" y="36301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Filas basura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77240" y="4050792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filas "CORRUPT_ROW" casi vacías eliminadas en Artists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51960" y="288036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1" descr="C:\claude_deck\deck\icons\broom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3154680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26280" y="36301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Formatos numéricos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26280" y="4050792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followers: texto con comas ("1,234,567") → numérico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monthly_listeners: abreviado ("23.7M", "958K") → numérico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001000" y="288036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2" name="Image 2" descr="C:\claude_deck\deck\icons\broom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3154680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75320" y="36301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Cronología imposible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8275320" y="4050792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filas con last_release = 9999 (año centinela)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filas con first_release &gt; last_release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columnas anuladas — no se adivinó cuál dato era correcto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ANÁLISIS EXPLORATORIO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 los datos y comportamiento general</a:t>
            </a:r>
            <a:endParaRPr lang="en-US" sz="2200" dirty="0"/>
          </a:p>
        </p:txBody>
      </p:sp>
      <p:pic>
        <p:nvPicPr>
          <p:cNvPr id="4" name="Image 0" descr="C:\claude_deck\deck\grafica_01_cal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306" y="1417320"/>
            <a:ext cx="272034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04495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Celdas con valores de relleno ("N/A", "unknown", "?") en Artists y Tracks, antes vs. después de limpiar</a:t>
            </a:r>
            <a:endParaRPr lang="en-US" sz="1050" dirty="0"/>
          </a:p>
        </p:txBody>
      </p:sp>
      <p:pic>
        <p:nvPicPr>
          <p:cNvPr id="6" name="Image 1" descr="C:\claude_deck\deck\grafica_02_distribucio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" y="3502152"/>
            <a:ext cx="9601200" cy="2400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5975604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Followers, monthly listeners y playlists editoriales distintas por artista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ANÁLISIS EXPLORATORIO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Relaciones entre variables y hallazgo principal</a:t>
            </a:r>
            <a:endParaRPr lang="en-US" sz="2200" dirty="0"/>
          </a:p>
        </p:txBody>
      </p:sp>
      <p:pic>
        <p:nvPicPr>
          <p:cNvPr id="4" name="Image 0" descr="C:\claude_deck\deck\grafica_03_correl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72" y="1463040"/>
            <a:ext cx="4335098" cy="37157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3372" y="5224559"/>
            <a:ext cx="4335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050" i="1" dirty="0" err="1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Monthly_listeners</a:t>
            </a:r>
            <a:r>
              <a:rPr lang="en-US" sz="105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</a:t>
            </a:r>
            <a:r>
              <a:rPr lang="en-US" sz="105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mayor peso </a:t>
            </a:r>
            <a:r>
              <a:rPr lang="en-US" sz="1050" i="1" dirty="0" err="1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05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followers.</a:t>
            </a:r>
          </a:p>
        </p:txBody>
      </p:sp>
      <p:pic>
        <p:nvPicPr>
          <p:cNvPr id="6" name="Image 1" descr="C:\claude_deck\deck\grafica_04_cier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230" y="1463040"/>
            <a:ext cx="5945278" cy="37157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84230" y="5224559"/>
            <a:ext cx="59452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Artistas en 3 tercios por followers vs. promedio de playlists distintas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SELECCIÓN DEL MODELO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Comparamos tres modelos de regresión sobre el mismo examen (20% de los artistas).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12064" cy="512064"/>
          </a:xfrm>
          <a:prstGeom prst="ellipse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C:\claude_deck\deck\icons\chart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0025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928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Lineal (OLS)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81635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0.886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309067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346704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0.433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77240" y="362102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3877056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de 27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251960" y="16002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4526280" y="1874520"/>
            <a:ext cx="512064" cy="512064"/>
          </a:xfrm>
          <a:prstGeom prst="ellipse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1" descr="C:\claude_deck\deck\icons\scal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2002536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66360" y="18928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(α = 1.0)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4526280" y="25603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26280" y="281635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0.886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4526280" y="309067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26280" y="3346704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0.433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4526280" y="362102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526280" y="3877056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de 27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8001000" y="16002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1DB95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1"/>
          <p:cNvSpPr/>
          <p:nvPr/>
        </p:nvSpPr>
        <p:spPr>
          <a:xfrm>
            <a:off x="8275320" y="1874520"/>
            <a:ext cx="512064" cy="512064"/>
          </a:xfrm>
          <a:prstGeom prst="ellipse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2" descr="C:\claude_deck\deck\icons\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2002536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915400" y="18928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 (α = 0.05)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8275320" y="244144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8275320" y="27889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8275320" y="304495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0.893</a:t>
            </a:r>
            <a:endParaRPr lang="en-US" sz="2200" dirty="0"/>
          </a:p>
        </p:txBody>
      </p:sp>
      <p:sp>
        <p:nvSpPr>
          <p:cNvPr id="31" name="Text 26"/>
          <p:cNvSpPr/>
          <p:nvPr/>
        </p:nvSpPr>
        <p:spPr>
          <a:xfrm>
            <a:off x="8275320" y="331927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8275320" y="3575304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0.424</a:t>
            </a:r>
            <a:endParaRPr lang="en-US" sz="2200" dirty="0"/>
          </a:p>
        </p:txBody>
      </p:sp>
      <p:sp>
        <p:nvSpPr>
          <p:cNvPr id="33" name="Text 28"/>
          <p:cNvSpPr/>
          <p:nvPr/>
        </p:nvSpPr>
        <p:spPr>
          <a:xfrm>
            <a:off x="8275320" y="384962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8275320" y="4105656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de 27</a:t>
            </a:r>
            <a:endParaRPr lang="en-US" sz="2200" dirty="0"/>
          </a:p>
        </p:txBody>
      </p:sp>
      <p:sp>
        <p:nvSpPr>
          <p:cNvPr id="35" name="Shape 30"/>
          <p:cNvSpPr/>
          <p:nvPr/>
        </p:nvSpPr>
        <p:spPr>
          <a:xfrm>
            <a:off x="502920" y="4937760"/>
            <a:ext cx="11183112" cy="1234440"/>
          </a:xfrm>
          <a:prstGeom prst="roundRect">
            <a:avLst>
              <a:gd name="adj" fmla="val 7407"/>
            </a:avLst>
          </a:prstGeom>
          <a:solidFill>
            <a:srgbClr val="12121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1"/>
          <p:cNvSpPr/>
          <p:nvPr/>
        </p:nvSpPr>
        <p:spPr>
          <a:xfrm>
            <a:off x="868680" y="5166360"/>
            <a:ext cx="10451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followers</a:t>
            </a: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 </a:t>
            </a:r>
            <a:r>
              <a:rPr lang="en-US" sz="155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monthly_listeners</a:t>
            </a: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están correlacionadas en </a:t>
            </a:r>
            <a:r>
              <a:rPr lang="en-US" sz="155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</a:t>
            </a: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Ridge y Lasso ayudan a manejar esa redundancia. Elegimos Lasso porque iguala el desempeño con solo 7 variables.</a:t>
            </a:r>
            <a:endParaRPr lang="en-US" sz="1550" dirty="0"/>
          </a:p>
        </p:txBody>
      </p:sp>
      <p:sp>
        <p:nvSpPr>
          <p:cNvPr id="37" name="Text 32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VALIDACIÓN CRUZADA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examen no basta: repetimos el entrenamiento 5 veces con grupos distintos (K-Fold).</a:t>
            </a:r>
            <a:endParaRPr lang="en-US" sz="2100" dirty="0"/>
          </a:p>
        </p:txBody>
      </p:sp>
      <p:pic>
        <p:nvPicPr>
          <p:cNvPr id="4" name="Image 0" descr="C:\claude_deck\deck\grafica_05_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422" y="1554480"/>
            <a:ext cx="6206108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" y="507492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859536" y="516636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0.498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505456" y="516636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promedio · OLS / Ridge (± 0.043)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54496" y="507492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6528816" y="516636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0.483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174736" y="516636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promedio · Lasso (± 0.044)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EVALUACIÓN DEL MODELO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artistas que el modelo nunca vio, así de bien predice Lasso.</a:t>
            </a:r>
            <a:endParaRPr lang="en-US" sz="2100" dirty="0"/>
          </a:p>
        </p:txBody>
      </p:sp>
      <p:pic>
        <p:nvPicPr>
          <p:cNvPr id="4" name="Image 0" descr="C:\claude_deck\deck\grafica_06_evalu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9380" y="1233953"/>
            <a:ext cx="6873240" cy="48468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33880" y="5943600"/>
            <a:ext cx="583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 (Lasso): valor real vs. valor predicho, artistas de test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CONCLUSIONES Y RECOMENDACIONES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tamaño de audiencia predice mejor que el sonido de la música.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F1F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encontramos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7091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monthly_listeners es la variable más importante en los tres modelos — ningún audio feature pesa.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explica ~48% de la diferencia entre artistas (R² = 0.483 en validación cruzada), con un error típico de media playlist (MAE = 0.56).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no es causalidad: no podemos afirmar que subir los oyentes garantice más playlists.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F1F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92240" y="19659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recomendamos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7091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el historial de audiencia (oyentes mensuales, popularidad) sobre el estilo musical al decidir en qué artistas invertir en promoción.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Limitaciones: un solo periodo (abril–mayo 2024) y solo artistas ya presentes en playlists editoriales de EE. UU.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futuro: modelos no lineales (árboles de decisión, Random Forest) y más periodos de datos.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5B7BB10-73B3-A8DF-331F-0D75CE2E3BFC}"/>
              </a:ext>
            </a:extLst>
          </p:cNvPr>
          <p:cNvSpPr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REFERENCIAS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AE984F3-F2EA-8423-8AEC-74E8E0FE8ED2}"/>
              </a:ext>
            </a:extLst>
          </p:cNvPr>
          <p:cNvSpPr/>
          <p:nvPr/>
        </p:nvSpPr>
        <p:spPr>
          <a:xfrm>
            <a:off x="502920" y="1910588"/>
            <a:ext cx="10652760" cy="241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O" dirty="0" err="1"/>
              <a:t>sarahjeffreson</a:t>
            </a:r>
            <a:r>
              <a:rPr lang="es-CO" dirty="0"/>
              <a:t>. (s.f.). </a:t>
            </a:r>
            <a:r>
              <a:rPr lang="es-CO" dirty="0" err="1"/>
              <a:t>Featured</a:t>
            </a:r>
            <a:r>
              <a:rPr lang="es-CO" dirty="0"/>
              <a:t> Spotify </a:t>
            </a:r>
            <a:r>
              <a:rPr lang="es-CO" dirty="0" err="1"/>
              <a:t>artists</a:t>
            </a:r>
            <a:r>
              <a:rPr lang="es-CO" dirty="0"/>
              <a:t>/</a:t>
            </a:r>
            <a:r>
              <a:rPr lang="es-CO" dirty="0" err="1"/>
              <a:t>tracks</a:t>
            </a:r>
            <a:r>
              <a:rPr lang="es-CO" dirty="0"/>
              <a:t> </a:t>
            </a:r>
            <a:r>
              <a:rPr lang="es-CO" dirty="0" err="1"/>
              <a:t>with</a:t>
            </a:r>
            <a:r>
              <a:rPr lang="es-CO" dirty="0"/>
              <a:t> </a:t>
            </a:r>
            <a:r>
              <a:rPr lang="es-CO" dirty="0" err="1"/>
              <a:t>metadata</a:t>
            </a:r>
            <a:r>
              <a:rPr lang="es-CO" dirty="0"/>
              <a:t> [Conjunto de datos]. </a:t>
            </a:r>
            <a:r>
              <a:rPr lang="es-CO" dirty="0" err="1"/>
              <a:t>Kaggle</a:t>
            </a:r>
            <a:r>
              <a:rPr lang="es-CO" dirty="0"/>
              <a:t>. </a:t>
            </a:r>
            <a:r>
              <a:rPr lang="es-CO" dirty="0">
                <a:hlinkClick r:id="rId2"/>
              </a:rPr>
              <a:t>https://www.kaggle.com/datasets/sarahjeffreson/featured-spotify-artiststracks-with-metadata</a:t>
            </a:r>
            <a:endParaRPr lang="es-CO" dirty="0"/>
          </a:p>
          <a:p>
            <a:endParaRPr lang="es-CO" dirty="0"/>
          </a:p>
          <a:p>
            <a:endParaRPr lang="es-CO" dirty="0"/>
          </a:p>
          <a:p>
            <a:endParaRPr lang="es-CO" dirty="0"/>
          </a:p>
          <a:p>
            <a:r>
              <a:rPr lang="en-US" dirty="0"/>
              <a:t>Pedregosa, F., </a:t>
            </a:r>
            <a:r>
              <a:rPr lang="en-US" dirty="0" err="1"/>
              <a:t>Varoquaux</a:t>
            </a:r>
            <a:r>
              <a:rPr lang="en-US" dirty="0"/>
              <a:t>, G., </a:t>
            </a:r>
            <a:r>
              <a:rPr lang="en-US" dirty="0" err="1"/>
              <a:t>Gramfort</a:t>
            </a:r>
            <a:r>
              <a:rPr lang="en-US" dirty="0"/>
              <a:t>, A., Michel, V., Thirion, B., Grisel, O., Blondel, M., </a:t>
            </a:r>
            <a:r>
              <a:rPr lang="en-US" dirty="0" err="1"/>
              <a:t>Prettenhofer</a:t>
            </a:r>
            <a:r>
              <a:rPr lang="en-US" dirty="0"/>
              <a:t>, P., Weiss, R., Dubourg, V., Vanderplas, J., Passos, A., </a:t>
            </a:r>
            <a:r>
              <a:rPr lang="en-US" dirty="0" err="1"/>
              <a:t>Cournapeau</a:t>
            </a:r>
            <a:r>
              <a:rPr lang="en-US" dirty="0"/>
              <a:t>, D., Brucher, M., Perrot, M., &amp; Duchesnay, E. (2011). Scikit-learn: Machine learning in Python. Journal of Machine Learning Research, 12, 2825-2830.</a:t>
            </a:r>
            <a:endParaRPr lang="es-CO" dirty="0"/>
          </a:p>
          <a:p>
            <a:pPr marL="0" indent="0">
              <a:buNone/>
            </a:pPr>
            <a:endParaRPr lang="en-US" sz="2100" dirty="0"/>
          </a:p>
        </p:txBody>
      </p:sp>
      <p:sp>
        <p:nvSpPr>
          <p:cNvPr id="6" name="TextBox 5"/>
          <p:cNvSpPr txBox="1"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41321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0292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Sebastian Bonilla Urrego · Juan Andrés López Forero · Sael Andres Velasquez Torres · Helen Julieth Suarez Rodriguez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DataXperience · Universidad EAN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A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1082</Words>
  <Application>Microsoft Office PowerPoint</Application>
  <PresentationFormat>Widescreen</PresentationFormat>
  <Paragraphs>140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la Presencia de Artistas en Playlists Editoriales de Spotify</dc:title>
  <dc:subject>PptxGenJS Presentation</dc:subject>
  <dc:creator>Equipo DataXperience</dc:creator>
  <cp:lastModifiedBy>sebastian Bonilla</cp:lastModifiedBy>
  <cp:revision>4</cp:revision>
  <dcterms:created xsi:type="dcterms:W3CDTF">2026-09-13T14:33:24Z</dcterms:created>
  <dcterms:modified xsi:type="dcterms:W3CDTF">2026-09-13T17:09:46Z</dcterms:modified>
</cp:coreProperties>
</file>